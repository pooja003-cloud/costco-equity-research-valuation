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47"/>
          <c:y val="0.03"/>
          <c:w val="0.5"/>
          <c:h val="0.8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52-week range (monthly closes)   $723–980</c:v>
                  </c:pt>
                  <c:pt idx="1">
                    <c:v>DCF: bear / base / bull   $263–400</c:v>
                  </c:pt>
                  <c:pt idx="2">
                    <c:v>DCF: WACC and growth ±0.5pp   $294–398</c:v>
                  </c:pt>
                  <c:pt idx="3">
                    <c:v>Comps: EV/EBITDA, peer 25th–75th   $208–359</c:v>
                  </c:pt>
                  <c:pt idx="4">
                    <c:v>Comps: P/E, peer 25th–75th   $252–408</c:v>
                  </c:pt>
                  <c:pt idx="5">
                    <c:v>Comps: EV/Revenue, peer 25th–75th   $330–423</c:v>
                  </c:pt>
                  <c:pt idx="6">
                    <c:v>Walmart &amp; BJ's multiples   $452–548</c:v>
                  </c:pt>
                  <c:pt idx="7">
                    <c:v>7% growth for 10 to 100 more years   $411–780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722.9</c:v>
                </c:pt>
                <c:pt idx="1">
                  <c:v>263.396</c:v>
                </c:pt>
                <c:pt idx="2">
                  <c:v>294.226</c:v>
                </c:pt>
                <c:pt idx="3">
                  <c:v>208.423</c:v>
                </c:pt>
                <c:pt idx="4">
                  <c:v>251.541</c:v>
                </c:pt>
                <c:pt idx="5">
                  <c:v>330.409</c:v>
                </c:pt>
                <c:pt idx="6">
                  <c:v>452.488</c:v>
                </c:pt>
                <c:pt idx="7">
                  <c:v>410.524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Fundamental value range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52-week range (monthly closes)   $723–980</c:v>
                  </c:pt>
                  <c:pt idx="1">
                    <c:v>DCF: bear / base / bull   $263–400</c:v>
                  </c:pt>
                  <c:pt idx="2">
                    <c:v>DCF: WACC and growth ±0.5pp   $294–398</c:v>
                  </c:pt>
                  <c:pt idx="3">
                    <c:v>Comps: EV/EBITDA, peer 25th–75th   $208–359</c:v>
                  </c:pt>
                  <c:pt idx="4">
                    <c:v>Comps: P/E, peer 25th–75th   $252–408</c:v>
                  </c:pt>
                  <c:pt idx="5">
                    <c:v>Comps: EV/Revenue, peer 25th–75th   $330–423</c:v>
                  </c:pt>
                  <c:pt idx="6">
                    <c:v>Walmart &amp; BJ's multiples   $452–548</c:v>
                  </c:pt>
                  <c:pt idx="7">
                    <c:v>7% growth for 10 to 100 more years   $411–780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136.83299999999997</c:v>
                </c:pt>
                <c:pt idx="2">
                  <c:v>103.88100000000003</c:v>
                </c:pt>
                <c:pt idx="3">
                  <c:v>150.923</c:v>
                </c:pt>
                <c:pt idx="4">
                  <c:v>156.61</c:v>
                </c:pt>
                <c:pt idx="5">
                  <c:v>92.59899999999999</c:v>
                </c:pt>
                <c:pt idx="6">
                  <c:v>95.464</c:v>
                </c:pt>
                <c:pt idx="7">
                  <c:v>369.289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 price range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52-week range (monthly closes)   $723–980</c:v>
                  </c:pt>
                  <c:pt idx="1">
                    <c:v>DCF: bear / base / bull   $263–400</c:v>
                  </c:pt>
                  <c:pt idx="2">
                    <c:v>DCF: WACC and growth ±0.5pp   $294–398</c:v>
                  </c:pt>
                  <c:pt idx="3">
                    <c:v>Comps: EV/EBITDA, peer 25th–75th   $208–359</c:v>
                  </c:pt>
                  <c:pt idx="4">
                    <c:v>Comps: P/E, peer 25th–75th   $252–408</c:v>
                  </c:pt>
                  <c:pt idx="5">
                    <c:v>Comps: EV/Revenue, peer 25th–75th   $330–423</c:v>
                  </c:pt>
                  <c:pt idx="6">
                    <c:v>Walmart &amp; BJ's multiples   $452–548</c:v>
                  </c:pt>
                  <c:pt idx="7">
                    <c:v>7% growth for 10 to 100 more years   $411–780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256.98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b"/>
        <c:numFmt formatCode="$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Costco equity research case study, valued at 31 January 2025 using only filings available on that date. The share price was $980; the base-case DCF gives $337. The rest of the deck explains the gap. Independent academic research and valuation case study; not investment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Costco is an exceptional business: the membership fee stream, the negative-working-capital cost model, and steady mid-single-digit growth. The problem is price. The base-case DCF is $337 against $980; the reverse DCF says the market is pricing 7.0% perpetual growth or a 4.8% cost of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field of every valuation method. Base-case DCF $337 (WACC 8.38%, terminal growth 3.0%). Peer-median multiples imply $240 (EV/EBITDA) and $280 (P/E); Walmart and BJ's multiples $452–548. Even 7% growth for 100 years after FY2029 gives only $780. Operating sensitivities move value only $299–380.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risk to this view is that the market is right to use a very low discount rate or to expect decades of high growth. The triggers are measurable: price, evidence of a long growth runway, or a lasting fall in the cost of capital. A single strong quarter would not change the conclusion, because operating sensitivities only reach $380.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 |  VALUATION CASE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Costco Wholesale (NASDAQ: COST)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business at a price the cash flows cannot reach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price, 31 Jan 2025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5146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$337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DCF value per share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25146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−66%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vs. price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Master  |  Valuation date: 31 January 2025  |  github.com/pooja003-cloud/costco-equity-research-valuation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academic research and valuation case study; not investment advice.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thesis: admire the business, not the price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20724"/>
            <a:ext cx="210312" cy="2103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 engine that makes earnings durable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24128" y="13898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fees were 52% of FY2024 operating income, with 92.9% renewal in the U.S. and Canada. The Sep 2024 fee rise lifts fee growth to ~11% in FY2025.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12848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31800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structure rivals struggle to copy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248716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4,000 SKUs, suppliers paid after goods sell and fees collected upfront: working capital is −4.8% of revenue and ROIC ~33%.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310128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41528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24128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steady, not explosive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24128" y="35844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revenue +6.6% a year to $349.5bn by FY2029, operating margin 3.65% to 3.77%, EPS $23.13.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349240" y="105156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577840" y="12344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price assumes far more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577840" y="1600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$337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base-case DCF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5577840" y="2103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$980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share price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5577840" y="274320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justify the price, cash flows must grow 7.0% a year forever after FY2029 (base case 3.0%),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cost of capital must be 4.8% (base case 8.4%).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Costco trades at 57x LTM earnings; the peer median is 16x.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224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overvalued on fundamentals. Bear / base / bull $263 / $337 / $400; probability-weighted $334.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7731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academic research and valuation case study; not investment advice.  Sources: Costco 10-K FY2024 and 10-Q Q1 FY2025 (SEC EDGAR); Yahoo Finance; model outputs.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Valuation: all methods land far below $980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1005840"/>
          <a:ext cx="5715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51551" y="1062990"/>
            <a:ext cx="0" cy="2960370"/>
          </a:xfrm>
          <a:prstGeom prst="line">
            <a:avLst/>
          </a:prstGeom>
          <a:noFill/>
          <a:ln w="25400">
            <a:solidFill>
              <a:srgbClr val="E8702A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5002911" y="4059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$980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17920" y="1024128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0972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8.38%</a:t>
            </a:r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WACC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45389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4.58%, Blume beta 0.89, Damodaran ERP 4.33%; debt is 1.5% of capital.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17920" y="219456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22677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EV is terminal value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6243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3.0%, reinvestment set by a 25% return on new capital; 9.9x FY2029 EBITDA.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17920" y="3364992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34381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$299–380</a:t>
            </a:r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operating range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794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sales ±2pp a year and gross margin ±30bp. The gap is about duration and discount rate, not next year's numbers.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31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academic research and valuation case study; not investment advice.  Sources: model outputs (outputs/tables); peers WMT, BJ, TGT, KR, DG, DLTR from SEC filings; FRED; Damodaran.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what would change my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156716"/>
            <a:ext cx="210312" cy="2103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87552" y="11064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could be wrong (upside risk)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87552" y="1463040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keep pricing Costco like a bond: a 6.0% WACC gives ~$596, 5.5% ~$713.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sustains 8–10% growth for decades.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high-margin income: retail media, financial services, faster fee increases.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830068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87552" y="27797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to the business (downside)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87552" y="3136392"/>
            <a:ext cx="3931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slowdown; price competition from Walmart/Sam's Club and Amazon.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and tariff cost inflation.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warehouses cannibalize old ones and slow member growth.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compression from 57x earnings toward the peer range.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212080" y="100584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13248" y="11887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404" y="12938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943600" y="12435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my view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40680" y="1755648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 toward $452–548, where Walmart and BJ's multiples would value Costco.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runway.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Costco can compound ~8% for decades: at 8% it needs 76 years after FY2029 to justify $980.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lasting fall in rates or risk premia. Each 0.5pp off WACC adds only ~$33/share; the price needs 4.8%.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on its own: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quarter. Operating upside moves value to $380 at most.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7731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academic research and valuation case study; not investment advice.  Sources: model sensitivity and reverse-DCF tables; Costco 10-K FY2024.</a:t>
            </a:r>
            <a:endParaRPr lang="en-US" sz="75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Costco (COST) equity research: investment thesis, valuation and risks</dc:title>
  <dc:subject>Independent academic research and valuation case study; not investment advice.</dc:subject>
  <dc:creator>Pooja Master</dc:creator>
  <cp:lastModifiedBy>Pooja Master</cp:lastModifiedBy>
  <cp:revision>1</cp:revision>
  <dcterms:created xsi:type="dcterms:W3CDTF">2026-09-24T05:42:34Z</dcterms:created>
  <dcterms:modified xsi:type="dcterms:W3CDTF">2026-09-24T05:42:34Z</dcterms:modified>
</cp:coreProperties>
</file>